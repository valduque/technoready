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1" r:id="rId5"/>
    <p:sldId id="262" r:id="rId6"/>
    <p:sldId id="258" r:id="rId7"/>
    <p:sldId id="259" r:id="rId8"/>
    <p:sldId id="263" r:id="rId9"/>
    <p:sldId id="265" r:id="rId10"/>
    <p:sldId id="266"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10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8ADCFBC-5CDD-41F4-825D-FCBEB25CD311}" type="datetimeFigureOut">
              <a:rPr lang="es-MX" smtClean="0"/>
              <a:t>22/09/2025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252FA5-20F7-4E87-9D7B-A979FF0F2891}" type="slidenum">
              <a:rPr lang="es-MX" smtClean="0"/>
              <a:t>‹#›</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166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ADCFBC-5CDD-41F4-825D-FCBEB25CD311}" type="datetimeFigureOut">
              <a:rPr lang="es-MX" smtClean="0"/>
              <a:t>22/09/2025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237246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ADCFBC-5CDD-41F4-825D-FCBEB25CD311}" type="datetimeFigureOut">
              <a:rPr lang="es-MX" smtClean="0"/>
              <a:t>22/09/2025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252FA5-20F7-4E87-9D7B-A979FF0F2891}" type="slidenum">
              <a:rPr lang="es-MX" smtClean="0"/>
              <a:t>‹#›</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081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ADCFBC-5CDD-41F4-825D-FCBEB25CD311}" type="datetimeFigureOut">
              <a:rPr lang="es-MX" smtClean="0"/>
              <a:t>22/09/2025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60496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ADCFBC-5CDD-41F4-825D-FCBEB25CD311}" type="datetimeFigureOut">
              <a:rPr lang="es-MX" smtClean="0"/>
              <a:t>22/09/2025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954585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ADCFBC-5CDD-41F4-825D-FCBEB25CD311}" type="datetimeFigureOut">
              <a:rPr lang="es-MX" smtClean="0"/>
              <a:t>22/09/2025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3810536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8ADCFBC-5CDD-41F4-825D-FCBEB25CD311}" type="datetimeFigureOut">
              <a:rPr lang="es-MX" smtClean="0"/>
              <a:t>22/09/2025</a:t>
            </a:fld>
            <a:endParaRPr lang="es-MX"/>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MX"/>
          </a:p>
        </p:txBody>
      </p:sp>
      <p:sp>
        <p:nvSpPr>
          <p:cNvPr id="9" name="Slide Number Placeholder 8"/>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369849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8ADCFBC-5CDD-41F4-825D-FCBEB25CD311}" type="datetimeFigureOut">
              <a:rPr lang="es-MX" smtClean="0"/>
              <a:t>22/09/2025</a:t>
            </a:fld>
            <a:endParaRPr lang="es-MX"/>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MX"/>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A252FA5-20F7-4E87-9D7B-A979FF0F2891}" type="slidenum">
              <a:rPr lang="es-MX" smtClean="0"/>
              <a:t>‹#›</a:t>
            </a:fld>
            <a:endParaRPr lang="es-MX"/>
          </a:p>
        </p:txBody>
      </p:sp>
    </p:spTree>
    <p:extLst>
      <p:ext uri="{BB962C8B-B14F-4D97-AF65-F5344CB8AC3E}">
        <p14:creationId xmlns:p14="http://schemas.microsoft.com/office/powerpoint/2010/main" val="323450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ADCFBC-5CDD-41F4-825D-FCBEB25CD311}" type="datetimeFigureOut">
              <a:rPr lang="es-MX" smtClean="0"/>
              <a:t>22/09/2025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140271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ADCFBC-5CDD-41F4-825D-FCBEB25CD311}" type="datetimeFigureOut">
              <a:rPr lang="es-MX" smtClean="0"/>
              <a:t>22/09/2025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4097756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ADCFBC-5CDD-41F4-825D-FCBEB25CD311}" type="datetimeFigureOut">
              <a:rPr lang="es-MX" smtClean="0"/>
              <a:t>22/09/2025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A252FA5-20F7-4E87-9D7B-A979FF0F2891}" type="slidenum">
              <a:rPr lang="es-MX" smtClean="0"/>
              <a:t>‹#›</a:t>
            </a:fld>
            <a:endParaRPr lang="es-MX"/>
          </a:p>
        </p:txBody>
      </p:sp>
    </p:spTree>
    <p:extLst>
      <p:ext uri="{BB962C8B-B14F-4D97-AF65-F5344CB8AC3E}">
        <p14:creationId xmlns:p14="http://schemas.microsoft.com/office/powerpoint/2010/main" val="3858467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8ADCFBC-5CDD-41F4-825D-FCBEB25CD311}" type="datetimeFigureOut">
              <a:rPr lang="es-MX" smtClean="0"/>
              <a:t>22/09/2025</a:t>
            </a:fld>
            <a:endParaRPr lang="es-MX"/>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MX"/>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A252FA5-20F7-4E87-9D7B-A979FF0F2891}" type="slidenum">
              <a:rPr lang="es-MX" smtClean="0"/>
              <a:t>‹#›</a:t>
            </a:fld>
            <a:endParaRPr lang="es-MX"/>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7203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271D2-DC85-55D9-46AE-4BB9BBB91595}"/>
              </a:ext>
            </a:extLst>
          </p:cNvPr>
          <p:cNvSpPr>
            <a:spLocks noGrp="1"/>
          </p:cNvSpPr>
          <p:nvPr>
            <p:ph type="ctrTitle"/>
          </p:nvPr>
        </p:nvSpPr>
        <p:spPr/>
        <p:txBody>
          <a:bodyPr/>
          <a:lstStyle/>
          <a:p>
            <a:r>
              <a:rPr lang="en-US" dirty="0"/>
              <a:t>Back End in Java for Information Processing</a:t>
            </a:r>
            <a:endParaRPr lang="es-MX" dirty="0"/>
          </a:p>
        </p:txBody>
      </p:sp>
      <p:sp>
        <p:nvSpPr>
          <p:cNvPr id="3" name="Subtitle 2">
            <a:extLst>
              <a:ext uri="{FF2B5EF4-FFF2-40B4-BE49-F238E27FC236}">
                <a16:creationId xmlns:a16="http://schemas.microsoft.com/office/drawing/2014/main" id="{1C0198BB-4D95-5F9E-9D07-729858AEEB1D}"/>
              </a:ext>
            </a:extLst>
          </p:cNvPr>
          <p:cNvSpPr>
            <a:spLocks noGrp="1"/>
          </p:cNvSpPr>
          <p:nvPr>
            <p:ph type="subTitle" idx="1"/>
          </p:nvPr>
        </p:nvSpPr>
        <p:spPr/>
        <p:txBody>
          <a:bodyPr/>
          <a:lstStyle/>
          <a:p>
            <a:r>
              <a:rPr lang="es-MX" dirty="0" err="1"/>
              <a:t>Develop</a:t>
            </a:r>
            <a:r>
              <a:rPr lang="es-MX" dirty="0"/>
              <a:t> - </a:t>
            </a:r>
            <a:r>
              <a:rPr lang="es-MX" b="1" dirty="0"/>
              <a:t>Sprint 1</a:t>
            </a:r>
          </a:p>
          <a:p>
            <a:r>
              <a:rPr lang="es-MX" dirty="0"/>
              <a:t>Valeria ANEL </a:t>
            </a:r>
            <a:r>
              <a:rPr lang="es-MX"/>
              <a:t>DUQUE SALGADO  NAO:3306</a:t>
            </a:r>
            <a:endParaRPr lang="es-MX" dirty="0"/>
          </a:p>
        </p:txBody>
      </p:sp>
    </p:spTree>
    <p:extLst>
      <p:ext uri="{BB962C8B-B14F-4D97-AF65-F5344CB8AC3E}">
        <p14:creationId xmlns:p14="http://schemas.microsoft.com/office/powerpoint/2010/main" val="405312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sp>
        <p:nvSpPr>
          <p:cNvPr id="2" name="Title 1">
            <a:extLst>
              <a:ext uri="{FF2B5EF4-FFF2-40B4-BE49-F238E27FC236}">
                <a16:creationId xmlns:a16="http://schemas.microsoft.com/office/drawing/2014/main" id="{939FC353-6212-49FF-3EB0-EF64C157AEF6}"/>
              </a:ext>
            </a:extLst>
          </p:cNvPr>
          <p:cNvSpPr>
            <a:spLocks noGrp="1"/>
          </p:cNvSpPr>
          <p:nvPr>
            <p:ph type="title"/>
          </p:nvPr>
        </p:nvSpPr>
        <p:spPr>
          <a:xfrm>
            <a:off x="492370" y="516835"/>
            <a:ext cx="3084844" cy="2103875"/>
          </a:xfrm>
        </p:spPr>
        <p:txBody>
          <a:bodyPr>
            <a:normAutofit/>
          </a:bodyPr>
          <a:lstStyle/>
          <a:p>
            <a:r>
              <a:rPr lang="es-MX" sz="3600">
                <a:solidFill>
                  <a:srgbClr val="FFFFFF"/>
                </a:solidFill>
              </a:rPr>
              <a:t>What is SCRUM?</a:t>
            </a:r>
          </a:p>
        </p:txBody>
      </p:sp>
      <p:sp>
        <p:nvSpPr>
          <p:cNvPr id="3" name="Content Placeholder 2">
            <a:extLst>
              <a:ext uri="{FF2B5EF4-FFF2-40B4-BE49-F238E27FC236}">
                <a16:creationId xmlns:a16="http://schemas.microsoft.com/office/drawing/2014/main" id="{F5651818-433D-ADA5-94FE-6B5FA2FC6380}"/>
              </a:ext>
            </a:extLst>
          </p:cNvPr>
          <p:cNvSpPr>
            <a:spLocks noGrp="1"/>
          </p:cNvSpPr>
          <p:nvPr>
            <p:ph idx="1"/>
          </p:nvPr>
        </p:nvSpPr>
        <p:spPr>
          <a:xfrm>
            <a:off x="492371" y="2653800"/>
            <a:ext cx="3084844" cy="3335519"/>
          </a:xfrm>
        </p:spPr>
        <p:txBody>
          <a:bodyPr>
            <a:normAutofit/>
          </a:bodyPr>
          <a:lstStyle/>
          <a:p>
            <a:r>
              <a:rPr lang="en-US" sz="1500" dirty="0">
                <a:solidFill>
                  <a:srgbClr val="FFFFFF"/>
                </a:solidFill>
              </a:rPr>
              <a:t>Scrum helps people and teams deliver value incrementally in a collaborative way. As an agile framework, Scrum provides just enough structure for people and teams to integrate into how they work, while adding the right practices to optimize for their specific needs.</a:t>
            </a:r>
            <a:endParaRPr lang="es-MX" sz="1500" dirty="0">
              <a:solidFill>
                <a:srgbClr val="FFFFFF"/>
              </a:solidFill>
            </a:endParaRPr>
          </a:p>
        </p:txBody>
      </p:sp>
      <p:sp>
        <p:nvSpPr>
          <p:cNvPr id="13" name="Rectangle 1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MX"/>
          </a:p>
        </p:txBody>
      </p:sp>
      <p:pic>
        <p:nvPicPr>
          <p:cNvPr id="4" name="Picture 3">
            <a:extLst>
              <a:ext uri="{FF2B5EF4-FFF2-40B4-BE49-F238E27FC236}">
                <a16:creationId xmlns:a16="http://schemas.microsoft.com/office/drawing/2014/main" id="{73B221EC-D9B8-4F00-02B8-95C0BDA257AB}"/>
              </a:ext>
            </a:extLst>
          </p:cNvPr>
          <p:cNvPicPr>
            <a:picLocks noChangeAspect="1"/>
          </p:cNvPicPr>
          <p:nvPr/>
        </p:nvPicPr>
        <p:blipFill>
          <a:blip r:embed="rId2"/>
          <a:stretch>
            <a:fillRect/>
          </a:stretch>
        </p:blipFill>
        <p:spPr>
          <a:xfrm>
            <a:off x="4266994" y="1448986"/>
            <a:ext cx="7783491" cy="3891746"/>
          </a:xfrm>
          <a:prstGeom prst="rect">
            <a:avLst/>
          </a:prstGeom>
        </p:spPr>
      </p:pic>
    </p:spTree>
    <p:extLst>
      <p:ext uri="{BB962C8B-B14F-4D97-AF65-F5344CB8AC3E}">
        <p14:creationId xmlns:p14="http://schemas.microsoft.com/office/powerpoint/2010/main" val="1153571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8021-19F1-0FC2-71D3-B5188356AAC3}"/>
              </a:ext>
            </a:extLst>
          </p:cNvPr>
          <p:cNvSpPr>
            <a:spLocks noGrp="1"/>
          </p:cNvSpPr>
          <p:nvPr>
            <p:ph type="title"/>
          </p:nvPr>
        </p:nvSpPr>
        <p:spPr/>
        <p:txBody>
          <a:bodyPr/>
          <a:lstStyle/>
          <a:p>
            <a:r>
              <a:rPr lang="es-MX" dirty="0"/>
              <a:t>Roles</a:t>
            </a:r>
          </a:p>
        </p:txBody>
      </p:sp>
      <p:sp>
        <p:nvSpPr>
          <p:cNvPr id="4" name="Rectangle 1">
            <a:extLst>
              <a:ext uri="{FF2B5EF4-FFF2-40B4-BE49-F238E27FC236}">
                <a16:creationId xmlns:a16="http://schemas.microsoft.com/office/drawing/2014/main" id="{9F175BF7-1D69-C29D-8EFE-AA74124A4DB6}"/>
              </a:ext>
            </a:extLst>
          </p:cNvPr>
          <p:cNvSpPr>
            <a:spLocks noGrp="1" noChangeArrowheads="1"/>
          </p:cNvSpPr>
          <p:nvPr>
            <p:ph idx="1"/>
          </p:nvPr>
        </p:nvSpPr>
        <p:spPr bwMode="auto">
          <a:xfrm>
            <a:off x="1956163" y="2803065"/>
            <a:ext cx="834063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Product</a:t>
            </a: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Owner</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Defines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vision</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manages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Product</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Backlog, and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prioritizes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work</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Scrum Master</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Facilitates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Scrum,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removes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impediments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and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ensures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team</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follows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Scrum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practices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Development</a:t>
            </a: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Team</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Cross-</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functional</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professionals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who</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build</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the</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0"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product</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4067666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75449-363E-ECF3-87F9-CC841486E98B}"/>
              </a:ext>
            </a:extLst>
          </p:cNvPr>
          <p:cNvSpPr>
            <a:spLocks noGrp="1"/>
          </p:cNvSpPr>
          <p:nvPr>
            <p:ph type="title"/>
          </p:nvPr>
        </p:nvSpPr>
        <p:spPr/>
        <p:txBody>
          <a:bodyPr/>
          <a:lstStyle/>
          <a:p>
            <a:r>
              <a:rPr lang="es-MX" dirty="0" err="1"/>
              <a:t>Artifacts</a:t>
            </a:r>
            <a:endParaRPr lang="es-MX" dirty="0"/>
          </a:p>
        </p:txBody>
      </p:sp>
      <p:sp>
        <p:nvSpPr>
          <p:cNvPr id="5" name="Rectangle 2">
            <a:extLst>
              <a:ext uri="{FF2B5EF4-FFF2-40B4-BE49-F238E27FC236}">
                <a16:creationId xmlns:a16="http://schemas.microsoft.com/office/drawing/2014/main" id="{3F1B66EC-F612-CBF0-1E93-8CF945F8F222}"/>
              </a:ext>
            </a:extLst>
          </p:cNvPr>
          <p:cNvSpPr>
            <a:spLocks noGrp="1" noChangeArrowheads="1"/>
          </p:cNvSpPr>
          <p:nvPr>
            <p:ph idx="1"/>
          </p:nvPr>
        </p:nvSpPr>
        <p:spPr bwMode="auto">
          <a:xfrm>
            <a:off x="2381024" y="2967335"/>
            <a:ext cx="772091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Arial" panose="020B0604020202020204" pitchFamily="34" charset="0"/>
              </a:rPr>
              <a:t>Product</a:t>
            </a:r>
            <a:r>
              <a:rPr kumimoji="0" lang="es-MX" altLang="es-MX" sz="1800" b="1" i="0" u="none" strike="noStrike" cap="none" normalizeH="0" baseline="0" dirty="0">
                <a:ln>
                  <a:noFill/>
                </a:ln>
                <a:solidFill>
                  <a:schemeClr val="tx1"/>
                </a:solidFill>
                <a:effectLst/>
                <a:latin typeface="Arial" panose="020B0604020202020204" pitchFamily="34" charset="0"/>
              </a:rPr>
              <a:t> Backlog</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Ordered</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list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of</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everything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needed</a:t>
            </a:r>
            <a:r>
              <a:rPr kumimoji="0" lang="es-MX" altLang="es-MX" sz="1800" b="0" i="0" u="none" strike="noStrike" cap="none" normalizeH="0" baseline="0" dirty="0">
                <a:ln>
                  <a:noFill/>
                </a:ln>
                <a:solidFill>
                  <a:schemeClr val="tx1"/>
                </a:solidFill>
                <a:effectLst/>
                <a:latin typeface="Arial" panose="020B0604020202020204" pitchFamily="34" charset="0"/>
              </a:rPr>
              <a:t> in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product</a:t>
            </a:r>
            <a:r>
              <a:rPr kumimoji="0" lang="es-MX" altLang="es-MX"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a:ln>
                  <a:noFill/>
                </a:ln>
                <a:solidFill>
                  <a:schemeClr val="tx1"/>
                </a:solidFill>
                <a:effectLst/>
                <a:latin typeface="Arial" panose="020B0604020202020204" pitchFamily="34" charset="0"/>
              </a:rPr>
              <a:t>Sprint Backlog</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Items</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selected</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for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Sprint + plan </a:t>
            </a:r>
            <a:r>
              <a:rPr kumimoji="0" lang="es-MX" altLang="es-MX" sz="1800" b="0" i="0" u="none" strike="noStrike" cap="none" normalizeH="0" baseline="0" dirty="0" err="1">
                <a:ln>
                  <a:noFill/>
                </a:ln>
                <a:solidFill>
                  <a:schemeClr val="tx1"/>
                </a:solidFill>
                <a:effectLst/>
                <a:latin typeface="Arial" panose="020B0604020202020204" pitchFamily="34" charset="0"/>
              </a:rPr>
              <a:t>to</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deliver</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them</a:t>
            </a:r>
            <a:r>
              <a:rPr kumimoji="0" lang="es-MX" altLang="es-MX"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Arial" panose="020B0604020202020204" pitchFamily="34" charset="0"/>
              </a:rPr>
              <a:t>Increment</a:t>
            </a:r>
            <a:r>
              <a:rPr kumimoji="0" lang="es-MX" altLang="es-MX" sz="1800" b="0" i="0" u="none" strike="noStrike" cap="none" normalizeH="0" baseline="0" dirty="0">
                <a:ln>
                  <a:noFill/>
                </a:ln>
                <a:solidFill>
                  <a:schemeClr val="tx1"/>
                </a:solidFill>
                <a:effectLst/>
                <a:latin typeface="Arial" panose="020B0604020202020204" pitchFamily="34" charset="0"/>
              </a:rPr>
              <a:t> →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working</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product</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delivered</a:t>
            </a:r>
            <a:r>
              <a:rPr kumimoji="0" lang="es-MX" altLang="es-MX" sz="1800" b="0" i="0" u="none" strike="noStrike" cap="none" normalizeH="0" baseline="0" dirty="0">
                <a:ln>
                  <a:noFill/>
                </a:ln>
                <a:solidFill>
                  <a:schemeClr val="tx1"/>
                </a:solidFill>
                <a:effectLst/>
                <a:latin typeface="Arial" panose="020B0604020202020204" pitchFamily="34" charset="0"/>
              </a:rPr>
              <a:t> at </a:t>
            </a:r>
            <a:r>
              <a:rPr kumimoji="0" lang="es-MX" altLang="es-MX" sz="1800" b="0" i="0" u="none" strike="noStrike" cap="none" normalizeH="0" baseline="0" dirty="0" err="1">
                <a:ln>
                  <a:noFill/>
                </a:ln>
                <a:solidFill>
                  <a:schemeClr val="tx1"/>
                </a:solidFill>
                <a:effectLst/>
                <a:latin typeface="Arial" panose="020B0604020202020204" pitchFamily="34" charset="0"/>
              </a:rPr>
              <a:t>the</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end</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of</a:t>
            </a:r>
            <a:r>
              <a:rPr kumimoji="0" lang="es-MX" altLang="es-MX" sz="1800" b="0" i="0" u="none" strike="noStrike" cap="none" normalizeH="0" baseline="0" dirty="0">
                <a:ln>
                  <a:noFill/>
                </a:ln>
                <a:solidFill>
                  <a:schemeClr val="tx1"/>
                </a:solidFill>
                <a:effectLst/>
                <a:latin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rPr>
              <a:t>each</a:t>
            </a:r>
            <a:r>
              <a:rPr kumimoji="0" lang="es-MX" altLang="es-MX" sz="1800" b="0" i="0" u="none" strike="noStrike" cap="none" normalizeH="0" baseline="0" dirty="0">
                <a:ln>
                  <a:noFill/>
                </a:ln>
                <a:solidFill>
                  <a:schemeClr val="tx1"/>
                </a:solidFill>
                <a:effectLst/>
                <a:latin typeface="Arial" panose="020B0604020202020204" pitchFamily="34" charset="0"/>
              </a:rPr>
              <a:t> Sprint.</a:t>
            </a:r>
          </a:p>
        </p:txBody>
      </p:sp>
    </p:spTree>
    <p:extLst>
      <p:ext uri="{BB962C8B-B14F-4D97-AF65-F5344CB8AC3E}">
        <p14:creationId xmlns:p14="http://schemas.microsoft.com/office/powerpoint/2010/main" val="1634789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9C70A-6742-C002-3B1A-35E191A9E1EA}"/>
              </a:ext>
            </a:extLst>
          </p:cNvPr>
          <p:cNvSpPr>
            <a:spLocks noGrp="1"/>
          </p:cNvSpPr>
          <p:nvPr>
            <p:ph type="title"/>
          </p:nvPr>
        </p:nvSpPr>
        <p:spPr/>
        <p:txBody>
          <a:bodyPr/>
          <a:lstStyle/>
          <a:p>
            <a:r>
              <a:rPr lang="es-MX" dirty="0" err="1"/>
              <a:t>Events</a:t>
            </a:r>
            <a:r>
              <a:rPr lang="es-MX" dirty="0"/>
              <a:t> (</a:t>
            </a:r>
            <a:r>
              <a:rPr lang="es-MX" dirty="0" err="1"/>
              <a:t>Ceremonies</a:t>
            </a:r>
            <a:r>
              <a:rPr lang="es-MX" dirty="0"/>
              <a:t>)</a:t>
            </a:r>
          </a:p>
        </p:txBody>
      </p:sp>
      <p:sp>
        <p:nvSpPr>
          <p:cNvPr id="3" name="Content Placeholder 2">
            <a:extLst>
              <a:ext uri="{FF2B5EF4-FFF2-40B4-BE49-F238E27FC236}">
                <a16:creationId xmlns:a16="http://schemas.microsoft.com/office/drawing/2014/main" id="{B51DF352-F00F-5AAF-E8DE-DEABB7DF1802}"/>
              </a:ext>
            </a:extLst>
          </p:cNvPr>
          <p:cNvSpPr>
            <a:spLocks noGrp="1"/>
          </p:cNvSpPr>
          <p:nvPr>
            <p:ph idx="1"/>
          </p:nvPr>
        </p:nvSpPr>
        <p:spPr>
          <a:xfrm>
            <a:off x="2242456" y="2710542"/>
            <a:ext cx="7717973" cy="2068287"/>
          </a:xfrm>
        </p:spPr>
        <p:txBody>
          <a:bodyPr/>
          <a:lstStyle/>
          <a:p>
            <a:pPr lvl="1"/>
            <a:r>
              <a:rPr lang="en-US" b="1" dirty="0"/>
              <a:t>Sprint</a:t>
            </a:r>
            <a:r>
              <a:rPr lang="en-US" dirty="0"/>
              <a:t> → Time-boxed iteration (usually 2–4 weeks).</a:t>
            </a:r>
          </a:p>
          <a:p>
            <a:pPr lvl="1"/>
            <a:r>
              <a:rPr lang="en-US" b="1" dirty="0"/>
              <a:t>Sprint Planning</a:t>
            </a:r>
            <a:r>
              <a:rPr lang="en-US" dirty="0"/>
              <a:t> → Define Sprint Goal and select backlog items.</a:t>
            </a:r>
          </a:p>
          <a:p>
            <a:pPr lvl="1"/>
            <a:r>
              <a:rPr lang="en-US" b="1" dirty="0"/>
              <a:t>Daily Scrum</a:t>
            </a:r>
            <a:r>
              <a:rPr lang="en-US" dirty="0"/>
              <a:t> → 15-minute daily meeting to synchronize and plan next 24h.</a:t>
            </a:r>
          </a:p>
          <a:p>
            <a:pPr lvl="1"/>
            <a:r>
              <a:rPr lang="en-US" b="1" dirty="0"/>
              <a:t>Sprint Review</a:t>
            </a:r>
            <a:r>
              <a:rPr lang="en-US" dirty="0"/>
              <a:t> → Inspect increment and adapt Product Backlog.</a:t>
            </a:r>
          </a:p>
          <a:p>
            <a:pPr lvl="1"/>
            <a:r>
              <a:rPr lang="en-US" b="1" dirty="0"/>
              <a:t>Sprint Retrospective</a:t>
            </a:r>
            <a:r>
              <a:rPr lang="en-US" dirty="0"/>
              <a:t> → Reflect and improve the team’s process.</a:t>
            </a:r>
          </a:p>
          <a:p>
            <a:endParaRPr lang="es-MX" dirty="0"/>
          </a:p>
        </p:txBody>
      </p:sp>
    </p:spTree>
    <p:extLst>
      <p:ext uri="{BB962C8B-B14F-4D97-AF65-F5344CB8AC3E}">
        <p14:creationId xmlns:p14="http://schemas.microsoft.com/office/powerpoint/2010/main" val="1831310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CCBA-B5E1-BB23-074B-2B0B6FD35F2D}"/>
              </a:ext>
            </a:extLst>
          </p:cNvPr>
          <p:cNvSpPr>
            <a:spLocks noGrp="1"/>
          </p:cNvSpPr>
          <p:nvPr>
            <p:ph type="title"/>
          </p:nvPr>
        </p:nvSpPr>
        <p:spPr>
          <a:xfrm>
            <a:off x="772885" y="-306818"/>
            <a:ext cx="10058400" cy="1450757"/>
          </a:xfrm>
        </p:spPr>
        <p:txBody>
          <a:bodyPr/>
          <a:lstStyle/>
          <a:p>
            <a:pPr algn="ctr"/>
            <a:r>
              <a:rPr lang="es-MX" dirty="0"/>
              <a:t>Scrum </a:t>
            </a:r>
            <a:r>
              <a:rPr lang="es-MX" dirty="0" err="1"/>
              <a:t>Values</a:t>
            </a:r>
            <a:endParaRPr lang="es-MX" dirty="0"/>
          </a:p>
        </p:txBody>
      </p:sp>
      <p:sp>
        <p:nvSpPr>
          <p:cNvPr id="3" name="Content Placeholder 2">
            <a:extLst>
              <a:ext uri="{FF2B5EF4-FFF2-40B4-BE49-F238E27FC236}">
                <a16:creationId xmlns:a16="http://schemas.microsoft.com/office/drawing/2014/main" id="{3B34875F-5DE5-36FC-1EAB-D194E46F5EE8}"/>
              </a:ext>
            </a:extLst>
          </p:cNvPr>
          <p:cNvSpPr>
            <a:spLocks noGrp="1"/>
          </p:cNvSpPr>
          <p:nvPr>
            <p:ph idx="1"/>
          </p:nvPr>
        </p:nvSpPr>
        <p:spPr/>
        <p:txBody>
          <a:bodyPr/>
          <a:lstStyle/>
          <a:p>
            <a:endParaRPr lang="es-MX"/>
          </a:p>
        </p:txBody>
      </p:sp>
      <p:pic>
        <p:nvPicPr>
          <p:cNvPr id="4" name="Picture 3">
            <a:extLst>
              <a:ext uri="{FF2B5EF4-FFF2-40B4-BE49-F238E27FC236}">
                <a16:creationId xmlns:a16="http://schemas.microsoft.com/office/drawing/2014/main" id="{7DA0DB1A-A726-DCF3-D12B-7FF8C77CB78E}"/>
              </a:ext>
            </a:extLst>
          </p:cNvPr>
          <p:cNvPicPr>
            <a:picLocks noChangeAspect="1"/>
          </p:cNvPicPr>
          <p:nvPr/>
        </p:nvPicPr>
        <p:blipFill>
          <a:blip r:embed="rId2"/>
          <a:stretch>
            <a:fillRect/>
          </a:stretch>
        </p:blipFill>
        <p:spPr>
          <a:xfrm>
            <a:off x="1036320" y="1342436"/>
            <a:ext cx="10208623" cy="4846074"/>
          </a:xfrm>
          <a:prstGeom prst="rect">
            <a:avLst/>
          </a:prstGeom>
        </p:spPr>
      </p:pic>
    </p:spTree>
    <p:extLst>
      <p:ext uri="{BB962C8B-B14F-4D97-AF65-F5344CB8AC3E}">
        <p14:creationId xmlns:p14="http://schemas.microsoft.com/office/powerpoint/2010/main" val="3279976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09FB-BB93-1A76-511B-BA8AC1C3FD7F}"/>
              </a:ext>
            </a:extLst>
          </p:cNvPr>
          <p:cNvSpPr>
            <a:spLocks noGrp="1"/>
          </p:cNvSpPr>
          <p:nvPr>
            <p:ph type="title"/>
          </p:nvPr>
        </p:nvSpPr>
        <p:spPr/>
        <p:txBody>
          <a:bodyPr/>
          <a:lstStyle/>
          <a:p>
            <a:r>
              <a:rPr lang="es-MX" dirty="0"/>
              <a:t>Scrum </a:t>
            </a:r>
            <a:r>
              <a:rPr lang="es-MX" dirty="0" err="1"/>
              <a:t>Characteristics</a:t>
            </a:r>
            <a:r>
              <a:rPr lang="es-MX" dirty="0"/>
              <a:t>:</a:t>
            </a:r>
          </a:p>
        </p:txBody>
      </p:sp>
      <p:sp>
        <p:nvSpPr>
          <p:cNvPr id="4" name="Rectangle 1">
            <a:extLst>
              <a:ext uri="{FF2B5EF4-FFF2-40B4-BE49-F238E27FC236}">
                <a16:creationId xmlns:a16="http://schemas.microsoft.com/office/drawing/2014/main" id="{07B08AEA-F880-31A4-8059-35980A85CAD2}"/>
              </a:ext>
            </a:extLst>
          </p:cNvPr>
          <p:cNvSpPr>
            <a:spLocks noGrp="1" noChangeArrowheads="1"/>
          </p:cNvSpPr>
          <p:nvPr>
            <p:ph idx="1"/>
          </p:nvPr>
        </p:nvSpPr>
        <p:spPr bwMode="auto">
          <a:xfrm>
            <a:off x="1097280" y="2841751"/>
            <a:ext cx="989729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Self-Organized</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Los equipos se organizan solos y toman decisiones.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Empowered</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Tienen autonomía y recursos para cumplir objetivos.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Collaboration</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Se fomenta trabajo en conjunto, aprendizaje y experimentación.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Shared</a:t>
            </a: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Goal</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Todo el equipo trabaja hacia un objetivo común.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Optimum</a:t>
            </a: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Size</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Equipos pequeños (6–10) para comunicación efectiva.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Diverse </a:t>
            </a: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Skills</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Equipos multifuncionales con distintas habilidades.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1800" b="1" i="0" u="none" strike="noStrike" cap="none" normalizeH="0" baseline="0" dirty="0" err="1">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Collocated</a:t>
            </a:r>
            <a:r>
              <a:rPr kumimoji="0" lang="es-MX" altLang="es-MX"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 – Idealmente trabajan juntos físicamente, aunque se adapta a remoto.</a:t>
            </a:r>
          </a:p>
        </p:txBody>
      </p:sp>
    </p:spTree>
    <p:extLst>
      <p:ext uri="{BB962C8B-B14F-4D97-AF65-F5344CB8AC3E}">
        <p14:creationId xmlns:p14="http://schemas.microsoft.com/office/powerpoint/2010/main" val="2147437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F8B14-46A3-3DC0-1DCB-1A600C2B7E18}"/>
              </a:ext>
            </a:extLst>
          </p:cNvPr>
          <p:cNvSpPr>
            <a:spLocks noGrp="1"/>
          </p:cNvSpPr>
          <p:nvPr>
            <p:ph type="title"/>
          </p:nvPr>
        </p:nvSpPr>
        <p:spPr/>
        <p:txBody>
          <a:bodyPr/>
          <a:lstStyle/>
          <a:p>
            <a:r>
              <a:rPr lang="es-MX" dirty="0"/>
              <a:t>JSON AND CSV</a:t>
            </a:r>
          </a:p>
        </p:txBody>
      </p:sp>
      <p:sp>
        <p:nvSpPr>
          <p:cNvPr id="3" name="Text Placeholder 2">
            <a:extLst>
              <a:ext uri="{FF2B5EF4-FFF2-40B4-BE49-F238E27FC236}">
                <a16:creationId xmlns:a16="http://schemas.microsoft.com/office/drawing/2014/main" id="{2FF6A51A-6FBC-A415-D852-1E09205D04AD}"/>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1559263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68D1F1B-077D-B912-B416-2F671454F95A}"/>
              </a:ext>
            </a:extLst>
          </p:cNvPr>
          <p:cNvSpPr>
            <a:spLocks noGrp="1"/>
          </p:cNvSpPr>
          <p:nvPr>
            <p:ph type="body" idx="1"/>
          </p:nvPr>
        </p:nvSpPr>
        <p:spPr>
          <a:xfrm>
            <a:off x="1097280" y="897466"/>
            <a:ext cx="4937760" cy="736282"/>
          </a:xfrm>
        </p:spPr>
        <p:txBody>
          <a:bodyPr/>
          <a:lstStyle/>
          <a:p>
            <a:pPr algn="ctr"/>
            <a:r>
              <a:rPr lang="es-MX" dirty="0"/>
              <a:t>JSON</a:t>
            </a:r>
          </a:p>
        </p:txBody>
      </p:sp>
      <p:sp>
        <p:nvSpPr>
          <p:cNvPr id="4" name="Content Placeholder 3">
            <a:extLst>
              <a:ext uri="{FF2B5EF4-FFF2-40B4-BE49-F238E27FC236}">
                <a16:creationId xmlns:a16="http://schemas.microsoft.com/office/drawing/2014/main" id="{6B81097B-89C7-FDFD-C256-2E54DAF4FBD1}"/>
              </a:ext>
            </a:extLst>
          </p:cNvPr>
          <p:cNvSpPr>
            <a:spLocks noGrp="1"/>
          </p:cNvSpPr>
          <p:nvPr>
            <p:ph sz="half" idx="2"/>
          </p:nvPr>
        </p:nvSpPr>
        <p:spPr>
          <a:xfrm>
            <a:off x="1097280" y="1817225"/>
            <a:ext cx="4937760" cy="4143309"/>
          </a:xfrm>
        </p:spPr>
        <p:txBody>
          <a:bodyPr/>
          <a:lstStyle/>
          <a:p>
            <a:r>
              <a:rPr lang="en-US" dirty="0"/>
              <a:t>JSON is a data exchange format that stands for JavaScript Object Notation. JSON is known as a light-weight format type and is favored for its readability and nesting features. It is often used in conjunction with APIs and data configuration. More specifically, JSON is preferred for API use, which prioritizes file size due to its lightweight feature. JSON is also praised for its ability to be easily converted into other formats. JSON conversion tools are quite common, and there are many free JSON to CSV format conversion tools out there.</a:t>
            </a:r>
            <a:endParaRPr lang="es-MX" dirty="0"/>
          </a:p>
        </p:txBody>
      </p:sp>
      <p:sp>
        <p:nvSpPr>
          <p:cNvPr id="5" name="Text Placeholder 4">
            <a:extLst>
              <a:ext uri="{FF2B5EF4-FFF2-40B4-BE49-F238E27FC236}">
                <a16:creationId xmlns:a16="http://schemas.microsoft.com/office/drawing/2014/main" id="{193EDB9D-6D23-7DAC-DC87-74EF7BAC2351}"/>
              </a:ext>
            </a:extLst>
          </p:cNvPr>
          <p:cNvSpPr>
            <a:spLocks noGrp="1"/>
          </p:cNvSpPr>
          <p:nvPr>
            <p:ph type="body" sz="quarter" idx="3"/>
          </p:nvPr>
        </p:nvSpPr>
        <p:spPr>
          <a:xfrm>
            <a:off x="6217920" y="897466"/>
            <a:ext cx="4937760" cy="736282"/>
          </a:xfrm>
        </p:spPr>
        <p:txBody>
          <a:bodyPr/>
          <a:lstStyle/>
          <a:p>
            <a:pPr algn="ctr"/>
            <a:r>
              <a:rPr lang="es-MX" dirty="0"/>
              <a:t>CSV</a:t>
            </a:r>
          </a:p>
        </p:txBody>
      </p:sp>
      <p:sp>
        <p:nvSpPr>
          <p:cNvPr id="6" name="Content Placeholder 5">
            <a:extLst>
              <a:ext uri="{FF2B5EF4-FFF2-40B4-BE49-F238E27FC236}">
                <a16:creationId xmlns:a16="http://schemas.microsoft.com/office/drawing/2014/main" id="{B49EE984-57C6-EA0D-4CB5-12381FB888A1}"/>
              </a:ext>
            </a:extLst>
          </p:cNvPr>
          <p:cNvSpPr>
            <a:spLocks noGrp="1"/>
          </p:cNvSpPr>
          <p:nvPr>
            <p:ph sz="quarter" idx="4"/>
          </p:nvPr>
        </p:nvSpPr>
        <p:spPr>
          <a:xfrm>
            <a:off x="6217920" y="1817225"/>
            <a:ext cx="4937760" cy="4143309"/>
          </a:xfrm>
        </p:spPr>
        <p:txBody>
          <a:bodyPr/>
          <a:lstStyle/>
          <a:p>
            <a:r>
              <a:rPr lang="en-US" dirty="0"/>
              <a:t>CSV is a data storage format that stands for Comma Separated Values. Implied in its name, CSV stores the data (values) in a list format separated by commas. CSV is noted for its small file size and simplicity. Likewise, because of its simplicity, CSV can be used by virtually anyone who is tasked with examining simple data in spreadsheets and tables.  CSV files can be converted to JSON format, but complex JSON files may lead to reading and writing errors.</a:t>
            </a:r>
            <a:endParaRPr lang="es-MX" dirty="0"/>
          </a:p>
        </p:txBody>
      </p:sp>
    </p:spTree>
    <p:extLst>
      <p:ext uri="{BB962C8B-B14F-4D97-AF65-F5344CB8AC3E}">
        <p14:creationId xmlns:p14="http://schemas.microsoft.com/office/powerpoint/2010/main" val="71981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6F93-B9E7-E2ED-5838-AB2324AB82C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A805212-1E98-D4AE-9E15-88DBEC149E4D}"/>
              </a:ext>
            </a:extLst>
          </p:cNvPr>
          <p:cNvSpPr>
            <a:spLocks noGrp="1"/>
          </p:cNvSpPr>
          <p:nvPr>
            <p:ph type="body" idx="1"/>
          </p:nvPr>
        </p:nvSpPr>
        <p:spPr>
          <a:xfrm>
            <a:off x="1097280" y="897466"/>
            <a:ext cx="4937760" cy="736282"/>
          </a:xfrm>
        </p:spPr>
        <p:txBody>
          <a:bodyPr/>
          <a:lstStyle/>
          <a:p>
            <a:pPr algn="ctr"/>
            <a:r>
              <a:rPr lang="es-MX" dirty="0"/>
              <a:t>JSON</a:t>
            </a:r>
          </a:p>
        </p:txBody>
      </p:sp>
      <p:pic>
        <p:nvPicPr>
          <p:cNvPr id="7" name="Content Placeholder 6">
            <a:extLst>
              <a:ext uri="{FF2B5EF4-FFF2-40B4-BE49-F238E27FC236}">
                <a16:creationId xmlns:a16="http://schemas.microsoft.com/office/drawing/2014/main" id="{3600870C-9F92-8BA0-B958-484D631D9B11}"/>
              </a:ext>
            </a:extLst>
          </p:cNvPr>
          <p:cNvPicPr>
            <a:picLocks noGrp="1" noChangeAspect="1"/>
          </p:cNvPicPr>
          <p:nvPr>
            <p:ph sz="half" idx="2"/>
          </p:nvPr>
        </p:nvPicPr>
        <p:blipFill>
          <a:blip r:embed="rId2"/>
          <a:stretch>
            <a:fillRect/>
          </a:stretch>
        </p:blipFill>
        <p:spPr>
          <a:xfrm>
            <a:off x="1096963" y="2333398"/>
            <a:ext cx="4938712" cy="3111954"/>
          </a:xfrm>
          <a:prstGeom prst="rect">
            <a:avLst/>
          </a:prstGeom>
        </p:spPr>
      </p:pic>
      <p:sp>
        <p:nvSpPr>
          <p:cNvPr id="5" name="Text Placeholder 4">
            <a:extLst>
              <a:ext uri="{FF2B5EF4-FFF2-40B4-BE49-F238E27FC236}">
                <a16:creationId xmlns:a16="http://schemas.microsoft.com/office/drawing/2014/main" id="{B8328F0A-C8B2-EABD-26E0-DC45C88DFD60}"/>
              </a:ext>
            </a:extLst>
          </p:cNvPr>
          <p:cNvSpPr>
            <a:spLocks noGrp="1"/>
          </p:cNvSpPr>
          <p:nvPr>
            <p:ph type="body" sz="quarter" idx="3"/>
          </p:nvPr>
        </p:nvSpPr>
        <p:spPr>
          <a:xfrm>
            <a:off x="6217920" y="897466"/>
            <a:ext cx="4937760" cy="736282"/>
          </a:xfrm>
        </p:spPr>
        <p:txBody>
          <a:bodyPr/>
          <a:lstStyle/>
          <a:p>
            <a:pPr algn="ctr"/>
            <a:r>
              <a:rPr lang="es-MX" dirty="0"/>
              <a:t>CSV</a:t>
            </a:r>
          </a:p>
        </p:txBody>
      </p:sp>
      <p:pic>
        <p:nvPicPr>
          <p:cNvPr id="9" name="Content Placeholder 8">
            <a:extLst>
              <a:ext uri="{FF2B5EF4-FFF2-40B4-BE49-F238E27FC236}">
                <a16:creationId xmlns:a16="http://schemas.microsoft.com/office/drawing/2014/main" id="{37264C7D-1916-3834-B008-B273B78D3769}"/>
              </a:ext>
            </a:extLst>
          </p:cNvPr>
          <p:cNvPicPr>
            <a:picLocks noGrp="1" noChangeAspect="1"/>
          </p:cNvPicPr>
          <p:nvPr>
            <p:ph sz="quarter" idx="4"/>
          </p:nvPr>
        </p:nvPicPr>
        <p:blipFill>
          <a:blip r:embed="rId3"/>
          <a:stretch>
            <a:fillRect/>
          </a:stretch>
        </p:blipFill>
        <p:spPr>
          <a:xfrm>
            <a:off x="6218238" y="3303615"/>
            <a:ext cx="4937125" cy="1171520"/>
          </a:xfrm>
          <a:prstGeom prst="rect">
            <a:avLst/>
          </a:prstGeom>
        </p:spPr>
      </p:pic>
    </p:spTree>
    <p:extLst>
      <p:ext uri="{BB962C8B-B14F-4D97-AF65-F5344CB8AC3E}">
        <p14:creationId xmlns:p14="http://schemas.microsoft.com/office/powerpoint/2010/main" val="2943484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BB3AB9-DA38-BB51-D633-53FD95E26544}"/>
              </a:ext>
            </a:extLst>
          </p:cNvPr>
          <p:cNvPicPr>
            <a:picLocks noChangeAspect="1"/>
          </p:cNvPicPr>
          <p:nvPr/>
        </p:nvPicPr>
        <p:blipFill>
          <a:blip r:embed="rId2"/>
          <a:stretch>
            <a:fillRect/>
          </a:stretch>
        </p:blipFill>
        <p:spPr>
          <a:xfrm>
            <a:off x="138897" y="190766"/>
            <a:ext cx="4872942" cy="6088499"/>
          </a:xfrm>
          <a:prstGeom prst="rect">
            <a:avLst/>
          </a:prstGeom>
        </p:spPr>
      </p:pic>
      <p:pic>
        <p:nvPicPr>
          <p:cNvPr id="3" name="Picture 2">
            <a:extLst>
              <a:ext uri="{FF2B5EF4-FFF2-40B4-BE49-F238E27FC236}">
                <a16:creationId xmlns:a16="http://schemas.microsoft.com/office/drawing/2014/main" id="{5EFD8449-C536-2BEB-AA7B-C8AB346DE6A9}"/>
              </a:ext>
            </a:extLst>
          </p:cNvPr>
          <p:cNvPicPr>
            <a:picLocks noChangeAspect="1"/>
          </p:cNvPicPr>
          <p:nvPr/>
        </p:nvPicPr>
        <p:blipFill>
          <a:blip r:embed="rId3"/>
          <a:stretch>
            <a:fillRect/>
          </a:stretch>
        </p:blipFill>
        <p:spPr>
          <a:xfrm>
            <a:off x="4838404" y="2308238"/>
            <a:ext cx="7214699" cy="2066992"/>
          </a:xfrm>
          <a:prstGeom prst="rect">
            <a:avLst/>
          </a:prstGeom>
        </p:spPr>
      </p:pic>
    </p:spTree>
    <p:extLst>
      <p:ext uri="{BB962C8B-B14F-4D97-AF65-F5344CB8AC3E}">
        <p14:creationId xmlns:p14="http://schemas.microsoft.com/office/powerpoint/2010/main" val="84941713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249</TotalTime>
  <Words>490</Words>
  <Application>Microsoft Office PowerPoint</Application>
  <PresentationFormat>Widescreen</PresentationFormat>
  <Paragraphs>35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Retrospect</vt:lpstr>
      <vt:lpstr>Back End in Java for Information Processing</vt:lpstr>
      <vt:lpstr>What is SCRUM?</vt:lpstr>
      <vt:lpstr>Roles</vt:lpstr>
      <vt:lpstr>Artifacts</vt:lpstr>
      <vt:lpstr>Events (Ceremonies)</vt:lpstr>
      <vt:lpstr>Scrum Values</vt:lpstr>
      <vt:lpstr>Scrum Characteristics:</vt:lpstr>
      <vt:lpstr>JSON AND CSV</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Valeria Duque</dc:creator>
  <cp:lastModifiedBy>Valeria Duque</cp:lastModifiedBy>
  <cp:revision>3</cp:revision>
  <dcterms:created xsi:type="dcterms:W3CDTF">2025-09-17T05:00:04Z</dcterms:created>
  <dcterms:modified xsi:type="dcterms:W3CDTF">2025-09-22T16:44:58Z</dcterms:modified>
</cp:coreProperties>
</file>